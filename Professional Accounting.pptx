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1" r:id="rId1"/>
  </p:sldMasterIdLst>
  <p:notesMasterIdLst>
    <p:notesMasterId r:id="rId11"/>
  </p:notesMasterIdLst>
  <p:sldIdLst>
    <p:sldId id="259" r:id="rId2"/>
    <p:sldId id="260" r:id="rId3"/>
    <p:sldId id="262" r:id="rId4"/>
    <p:sldId id="267" r:id="rId5"/>
    <p:sldId id="263" r:id="rId6"/>
    <p:sldId id="268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660"/>
  </p:normalViewPr>
  <p:slideViewPr>
    <p:cSldViewPr snapToGrid="0">
      <p:cViewPr varScale="1">
        <p:scale>
          <a:sx n="64" d="100"/>
          <a:sy n="64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BA619-5EB9-43CF-8955-9F1A81F902F0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33D997-01C3-4BBC-960A-5E9CD587A3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380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3D997-01C3-4BBC-960A-5E9CD587A36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2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3D997-01C3-4BBC-960A-5E9CD587A36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1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21511-420D-4034-8123-991F58722D4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8ABF-C1A5-4DA4-BA3D-9667074BF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423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21511-420D-4034-8123-991F58722D4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8ABF-C1A5-4DA4-BA3D-9667074BF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835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21511-420D-4034-8123-991F58722D4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8ABF-C1A5-4DA4-BA3D-9667074BF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884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21511-420D-4034-8123-991F58722D4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8ABF-C1A5-4DA4-BA3D-9667074BF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072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21511-420D-4034-8123-991F58722D4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8ABF-C1A5-4DA4-BA3D-9667074BF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412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21511-420D-4034-8123-991F58722D4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8ABF-C1A5-4DA4-BA3D-9667074BF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658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21511-420D-4034-8123-991F58722D4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8ABF-C1A5-4DA4-BA3D-9667074BF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007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21511-420D-4034-8123-991F58722D4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8ABF-C1A5-4DA4-BA3D-9667074BF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24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21511-420D-4034-8123-991F58722D4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8ABF-C1A5-4DA4-BA3D-9667074BF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458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21511-420D-4034-8123-991F58722D4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8ABF-C1A5-4DA4-BA3D-9667074BF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69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21511-420D-4034-8123-991F58722D4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8ABF-C1A5-4DA4-BA3D-9667074BF52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8973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21511-420D-4034-8123-991F58722D4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8ABF-C1A5-4DA4-BA3D-9667074BF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119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21511-420D-4034-8123-991F58722D4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8ABF-C1A5-4DA4-BA3D-9667074BF52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85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21511-420D-4034-8123-991F58722D4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8ABF-C1A5-4DA4-BA3D-9667074BF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941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21511-420D-4034-8123-991F58722D4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8ABF-C1A5-4DA4-BA3D-9667074BF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4929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21511-420D-4034-8123-991F58722D4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8ABF-C1A5-4DA4-BA3D-9667074BF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729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21511-420D-4034-8123-991F58722D4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B7D28ABF-C1A5-4DA4-BA3D-9667074BF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40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2" r:id="rId1"/>
    <p:sldLayoutId id="2147483953" r:id="rId2"/>
    <p:sldLayoutId id="2147483954" r:id="rId3"/>
    <p:sldLayoutId id="2147483955" r:id="rId4"/>
    <p:sldLayoutId id="2147483956" r:id="rId5"/>
    <p:sldLayoutId id="2147483957" r:id="rId6"/>
    <p:sldLayoutId id="2147483958" r:id="rId7"/>
    <p:sldLayoutId id="2147483959" r:id="rId8"/>
    <p:sldLayoutId id="2147483960" r:id="rId9"/>
    <p:sldLayoutId id="2147483961" r:id="rId10"/>
    <p:sldLayoutId id="2147483962" r:id="rId11"/>
    <p:sldLayoutId id="2147483963" r:id="rId12"/>
    <p:sldLayoutId id="2147483964" r:id="rId13"/>
    <p:sldLayoutId id="2147483965" r:id="rId14"/>
    <p:sldLayoutId id="2147483966" r:id="rId15"/>
    <p:sldLayoutId id="214748396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268832&amp;picture=accounting-department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lamorworld.com/gst-gain-smartphones-cement-to-cost-less-under-new-tax-regime-says-govt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hevirtualassist.net/how-to-apply-gst-number-online-download-certi/" TargetMode="External"/><Relationship Id="rId5" Type="http://schemas.openxmlformats.org/officeDocument/2006/relationships/image" Target="../media/image3.jpg"/><Relationship Id="rId4" Type="http://schemas.openxmlformats.org/officeDocument/2006/relationships/hyperlink" Target="https://creativecommons.org/licenses/by/3.0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d/3.0/" TargetMode="External"/><Relationship Id="rId4" Type="http://schemas.openxmlformats.org/officeDocument/2006/relationships/hyperlink" Target="https://www.quoteinspector.com/free-income-tax-photos-and-images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57BAC-6A9F-920A-8708-B673D49CF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33" y="674527"/>
            <a:ext cx="8814219" cy="1092186"/>
          </a:xfrm>
        </p:spPr>
        <p:txBody>
          <a:bodyPr>
            <a:normAutofit/>
          </a:bodyPr>
          <a:lstStyle/>
          <a:p>
            <a:r>
              <a:rPr lang="en-IN" dirty="0"/>
              <a:t>Professional Accounting</a:t>
            </a:r>
            <a:br>
              <a:rPr lang="en-IN" dirty="0"/>
            </a:br>
            <a:r>
              <a:rPr lang="en-IN" sz="1800" dirty="0"/>
              <a:t>Achieve Your Goal With 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83E00-A895-5FFE-23C1-E1E165A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5752"/>
            <a:ext cx="10515600" cy="3627530"/>
          </a:xfrm>
        </p:spPr>
        <p:txBody>
          <a:bodyPr/>
          <a:lstStyle/>
          <a:p>
            <a:r>
              <a:rPr lang="en-IN" dirty="0"/>
              <a:t>TALLY</a:t>
            </a:r>
          </a:p>
          <a:p>
            <a:r>
              <a:rPr lang="en-IN" dirty="0"/>
              <a:t>ACCOUNTING</a:t>
            </a:r>
          </a:p>
          <a:p>
            <a:r>
              <a:rPr lang="en-IN" dirty="0"/>
              <a:t>AI BASED (CLOUD ACCOUNTING)</a:t>
            </a:r>
          </a:p>
          <a:p>
            <a:r>
              <a:rPr lang="en-IN" dirty="0"/>
              <a:t>GST			</a:t>
            </a:r>
          </a:p>
          <a:p>
            <a:r>
              <a:rPr lang="en-IN" dirty="0"/>
              <a:t>TDS	</a:t>
            </a:r>
          </a:p>
          <a:p>
            <a:r>
              <a:rPr lang="en-IN" dirty="0"/>
              <a:t>INCOME TAX</a:t>
            </a:r>
          </a:p>
          <a:p>
            <a:r>
              <a:rPr lang="en-IN" dirty="0"/>
              <a:t>CAREEER</a:t>
            </a:r>
          </a:p>
          <a:p>
            <a:r>
              <a:rPr lang="en-IN" dirty="0"/>
              <a:t>EXCEL &amp; ADVANCE EXCEL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B16277-3B15-A200-7527-D4DC20A6F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51882" y="1996391"/>
            <a:ext cx="4467070" cy="286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9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F7799-5B6B-E683-7A8D-A1B20170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1792"/>
            <a:ext cx="10379439" cy="1223833"/>
          </a:xfrm>
        </p:spPr>
        <p:txBody>
          <a:bodyPr>
            <a:normAutofit fontScale="90000"/>
          </a:bodyPr>
          <a:lstStyle/>
          <a:p>
            <a:r>
              <a:rPr lang="en-IN" sz="1800" b="1" dirty="0"/>
              <a:t>Chepter-1</a:t>
            </a:r>
            <a:br>
              <a:rPr lang="en-IN" b="1" dirty="0"/>
            </a:br>
            <a:r>
              <a:rPr lang="en-IN" b="1" dirty="0"/>
              <a:t>Accounting Fundamentals</a:t>
            </a:r>
            <a:br>
              <a:rPr lang="en-IN" b="1" dirty="0"/>
            </a:br>
            <a:r>
              <a:rPr lang="en-IN" b="1" dirty="0"/>
              <a:t>TALLY PRIME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A1714-EA8E-39FF-CCB3-984C6816E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3377"/>
            <a:ext cx="10515600" cy="2878112"/>
          </a:xfrm>
        </p:spPr>
        <p:txBody>
          <a:bodyPr>
            <a:normAutofit/>
          </a:bodyPr>
          <a:lstStyle/>
          <a:p>
            <a:r>
              <a:rPr lang="en-IN" dirty="0"/>
              <a:t>Accounting Convention &amp; their Importance</a:t>
            </a:r>
          </a:p>
          <a:p>
            <a:r>
              <a:rPr lang="en-IN" dirty="0"/>
              <a:t>Types of Accounts and Double Entry Accounting System</a:t>
            </a:r>
          </a:p>
          <a:p>
            <a:r>
              <a:rPr lang="en-IN" dirty="0"/>
              <a:t>Journal Accounting</a:t>
            </a:r>
          </a:p>
          <a:p>
            <a:r>
              <a:rPr lang="en-IN" dirty="0"/>
              <a:t>Types and rectification of Mistakes</a:t>
            </a:r>
          </a:p>
          <a:p>
            <a:r>
              <a:rPr lang="en-IN" dirty="0"/>
              <a:t>Bank Reconciliation in tally </a:t>
            </a:r>
          </a:p>
          <a:p>
            <a:r>
              <a:rPr lang="en-IN" dirty="0"/>
              <a:t>Finalization of Accounts : Trading, P &amp; L A/C and Balance sheet</a:t>
            </a:r>
          </a:p>
          <a:p>
            <a:r>
              <a:rPr lang="en-IN" dirty="0"/>
              <a:t>Accounting in Cloud based</a:t>
            </a:r>
          </a:p>
        </p:txBody>
      </p:sp>
    </p:spTree>
    <p:extLst>
      <p:ext uri="{BB962C8B-B14F-4D97-AF65-F5344CB8AC3E}">
        <p14:creationId xmlns:p14="http://schemas.microsoft.com/office/powerpoint/2010/main" val="230752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AE927-F79B-56B7-6C15-59115BC51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0710"/>
            <a:ext cx="8596668" cy="1394084"/>
          </a:xfrm>
        </p:spPr>
        <p:txBody>
          <a:bodyPr>
            <a:normAutofit fontScale="90000"/>
          </a:bodyPr>
          <a:lstStyle/>
          <a:p>
            <a:r>
              <a:rPr lang="en-IN" sz="2000" dirty="0"/>
              <a:t>Chapter-2</a:t>
            </a:r>
            <a:br>
              <a:rPr lang="en-IN" dirty="0"/>
            </a:br>
            <a:r>
              <a:rPr lang="en-IN" b="1" dirty="0"/>
              <a:t>Indirect Tax (GST)</a:t>
            </a:r>
            <a:br>
              <a:rPr lang="en-IN" b="1" dirty="0"/>
            </a:br>
            <a:r>
              <a:rPr lang="en-IN" b="1" dirty="0"/>
              <a:t>TALLY PRIME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C29AF-6239-8125-BF0C-FEED13AE4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8957"/>
            <a:ext cx="8596668" cy="3809154"/>
          </a:xfrm>
        </p:spPr>
        <p:txBody>
          <a:bodyPr>
            <a:noAutofit/>
          </a:bodyPr>
          <a:lstStyle/>
          <a:p>
            <a:r>
              <a:rPr lang="en-IN" sz="1400" dirty="0"/>
              <a:t>History and impact of GST</a:t>
            </a:r>
          </a:p>
          <a:p>
            <a:r>
              <a:rPr lang="en-IN" sz="1400" dirty="0"/>
              <a:t>Understanding of GST (CGST/SGST/IGST)</a:t>
            </a:r>
          </a:p>
          <a:p>
            <a:r>
              <a:rPr lang="en-IN" sz="1400" dirty="0"/>
              <a:t>Important DEFINATIONS under GST</a:t>
            </a:r>
          </a:p>
          <a:p>
            <a:r>
              <a:rPr lang="en-IN" sz="1400" dirty="0"/>
              <a:t>Meaning and Scope of supply</a:t>
            </a:r>
          </a:p>
          <a:p>
            <a:r>
              <a:rPr lang="en-IN" sz="1400" dirty="0"/>
              <a:t>GST-Practical- Tally Prime</a:t>
            </a:r>
          </a:p>
          <a:p>
            <a:r>
              <a:rPr lang="en-IN" sz="1400" dirty="0"/>
              <a:t>Forward and Reverse Charge Mechanism</a:t>
            </a:r>
          </a:p>
          <a:p>
            <a:r>
              <a:rPr lang="en-IN" sz="1400" dirty="0"/>
              <a:t>Tax Invoice, Credit and debit Note</a:t>
            </a:r>
          </a:p>
          <a:p>
            <a:r>
              <a:rPr lang="en-IN" sz="1400" dirty="0"/>
              <a:t>Input Tax Credit &amp; Transfer of Input Tax Credit</a:t>
            </a:r>
          </a:p>
          <a:p>
            <a:r>
              <a:rPr lang="en-IN" sz="1400" dirty="0"/>
              <a:t>Accounts and Records</a:t>
            </a:r>
          </a:p>
          <a:p>
            <a:r>
              <a:rPr lang="en-IN" sz="1400" dirty="0"/>
              <a:t>Online &amp; offline Payments of Taxes &amp; Interest</a:t>
            </a:r>
          </a:p>
          <a:p>
            <a:r>
              <a:rPr lang="en-IN" sz="1400" dirty="0"/>
              <a:t>How to File </a:t>
            </a:r>
            <a:r>
              <a:rPr lang="en-IN" sz="1400" dirty="0" err="1"/>
              <a:t>Gst</a:t>
            </a:r>
            <a:r>
              <a:rPr lang="en-IN" sz="1400" dirty="0"/>
              <a:t> Return (GSTR-1 , GSTR-2, GSTR-3 ETC)</a:t>
            </a:r>
          </a:p>
          <a:p>
            <a:r>
              <a:rPr lang="en-IN" sz="1400" dirty="0"/>
              <a:t>E Way Bill</a:t>
            </a:r>
          </a:p>
          <a:p>
            <a:r>
              <a:rPr lang="en-IN" sz="1400" dirty="0"/>
              <a:t>Tax Deducted At Source</a:t>
            </a:r>
          </a:p>
          <a:p>
            <a:r>
              <a:rPr lang="en-IN" sz="1400" dirty="0"/>
              <a:t>Penalty</a:t>
            </a:r>
          </a:p>
          <a:p>
            <a:r>
              <a:rPr lang="en-IN" sz="1400" dirty="0"/>
              <a:t>Assessment &amp; Audit</a:t>
            </a:r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A3C888-1199-56BA-A182-2CE801AF5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03951" y="2282473"/>
            <a:ext cx="1679454" cy="1887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6A0068-93BA-6586-E487-DDE26C1FBFE6}"/>
              </a:ext>
            </a:extLst>
          </p:cNvPr>
          <p:cNvSpPr txBox="1"/>
          <p:nvPr/>
        </p:nvSpPr>
        <p:spPr>
          <a:xfrm>
            <a:off x="5903951" y="4495800"/>
            <a:ext cx="167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hlinkClick r:id="rId3" tooltip="https://clamorworld.com/gst-gain-smartphones-cement-to-cost-less-under-new-tax-regime-says-govt/"/>
              </a:rPr>
              <a:t>This Photo</a:t>
            </a:r>
            <a:r>
              <a:rPr lang="en-IN" sz="900" dirty="0"/>
              <a:t> by Unknown Author is licensed under </a:t>
            </a:r>
            <a:r>
              <a:rPr lang="en-IN" sz="900" dirty="0">
                <a:hlinkClick r:id="rId4" tooltip="https://creativecommons.org/licenses/by/3.0/"/>
              </a:rPr>
              <a:t>CC</a:t>
            </a:r>
            <a:endParaRPr lang="en-IN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578A77-7CB5-C5B3-474F-D3013DAE5C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769595" y="1790687"/>
            <a:ext cx="3627620" cy="32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091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6B34-4156-B50A-FEB7-6CB7916B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9495"/>
          </a:xfrm>
        </p:spPr>
        <p:txBody>
          <a:bodyPr>
            <a:normAutofit fontScale="90000"/>
          </a:bodyPr>
          <a:lstStyle/>
          <a:p>
            <a:r>
              <a:rPr lang="en-IN" dirty="0"/>
              <a:t>Indirect Tax (GST)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711E-C2C5-9731-C3F6-E2588FEE1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08879"/>
            <a:ext cx="8596668" cy="4332483"/>
          </a:xfrm>
        </p:spPr>
        <p:txBody>
          <a:bodyPr/>
          <a:lstStyle/>
          <a:p>
            <a:r>
              <a:rPr lang="en-IN" dirty="0"/>
              <a:t>Export/Import in GST</a:t>
            </a:r>
          </a:p>
          <a:p>
            <a:r>
              <a:rPr lang="en-IN" dirty="0"/>
              <a:t>E invoice</a:t>
            </a:r>
          </a:p>
          <a:p>
            <a:r>
              <a:rPr lang="en-IN" dirty="0"/>
              <a:t>Amendment in GST</a:t>
            </a:r>
          </a:p>
          <a:p>
            <a:r>
              <a:rPr lang="en-IN" dirty="0"/>
              <a:t>ISD in GST</a:t>
            </a:r>
          </a:p>
          <a:p>
            <a:r>
              <a:rPr lang="en-IN" dirty="0"/>
              <a:t>Interest &amp; penalty calculation in GST </a:t>
            </a:r>
          </a:p>
        </p:txBody>
      </p:sp>
    </p:spTree>
    <p:extLst>
      <p:ext uri="{BB962C8B-B14F-4D97-AF65-F5344CB8AC3E}">
        <p14:creationId xmlns:p14="http://schemas.microsoft.com/office/powerpoint/2010/main" val="741842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7C5FB-9CAD-09C5-D91A-2C78482DD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16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sz="1800" b="1" dirty="0"/>
              <a:t>Chepter-3</a:t>
            </a:r>
            <a:br>
              <a:rPr lang="en-IN" sz="1800" b="1" dirty="0"/>
            </a:br>
            <a:br>
              <a:rPr lang="en-IN" sz="1800" b="1" dirty="0"/>
            </a:br>
            <a:r>
              <a:rPr lang="en-IN" sz="2700" b="1" dirty="0"/>
              <a:t>Direct Tax (Income Tax – TDS)</a:t>
            </a:r>
            <a:br>
              <a:rPr lang="en-IN" sz="2700" b="1" dirty="0"/>
            </a:br>
            <a:r>
              <a:rPr lang="en-IN" sz="2200" b="1" dirty="0"/>
              <a:t>Tally PRIME</a:t>
            </a:r>
            <a:br>
              <a:rPr lang="en-IN" sz="1400" b="1" dirty="0"/>
            </a:br>
            <a:br>
              <a:rPr lang="en-IN" sz="1400" b="1" dirty="0"/>
            </a:br>
            <a:br>
              <a:rPr lang="en-IN" sz="1400" b="1" dirty="0"/>
            </a:br>
            <a:endParaRPr lang="en-IN" sz="1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51550-C8D8-C911-5A22-C8F4BFA79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153264"/>
          </a:xfrm>
        </p:spPr>
        <p:txBody>
          <a:bodyPr>
            <a:noAutofit/>
          </a:bodyPr>
          <a:lstStyle/>
          <a:p>
            <a:r>
              <a:rPr lang="en-IN" sz="1600" dirty="0"/>
              <a:t>Tax Deducted At Source (TDS)/Tax Collected &amp; Tax Liability</a:t>
            </a:r>
          </a:p>
          <a:p>
            <a:r>
              <a:rPr lang="en-IN" sz="1600" dirty="0"/>
              <a:t>Types and Role Of Direct Taxes in Business </a:t>
            </a:r>
          </a:p>
          <a:p>
            <a:r>
              <a:rPr lang="en-IN" sz="1600" dirty="0"/>
              <a:t>Basic understanding of Different Heads Of Income</a:t>
            </a:r>
          </a:p>
          <a:p>
            <a:pPr marL="0" indent="0">
              <a:buNone/>
            </a:pPr>
            <a:r>
              <a:rPr lang="en-IN" sz="1600" dirty="0"/>
              <a:t>    - Income From Salary</a:t>
            </a:r>
          </a:p>
          <a:p>
            <a:pPr marL="0" indent="0">
              <a:buNone/>
            </a:pPr>
            <a:r>
              <a:rPr lang="en-IN" sz="1600" dirty="0"/>
              <a:t>    - Income From House Property</a:t>
            </a:r>
          </a:p>
          <a:p>
            <a:pPr marL="0" indent="0">
              <a:buNone/>
            </a:pPr>
            <a:r>
              <a:rPr lang="en-IN" sz="1600" dirty="0"/>
              <a:t>    - Income From Business and Profession</a:t>
            </a:r>
          </a:p>
          <a:p>
            <a:pPr marL="0" indent="0">
              <a:buNone/>
            </a:pPr>
            <a:r>
              <a:rPr lang="en-IN" sz="1600" dirty="0"/>
              <a:t>    - Income From Capital Gain</a:t>
            </a:r>
          </a:p>
          <a:p>
            <a:pPr marL="0" indent="0">
              <a:buNone/>
            </a:pPr>
            <a:r>
              <a:rPr lang="en-IN" sz="1600" dirty="0"/>
              <a:t>    - Income From Other Sources	</a:t>
            </a:r>
          </a:p>
          <a:p>
            <a:pPr marL="0" indent="0">
              <a:buNone/>
            </a:pPr>
            <a:r>
              <a:rPr lang="en-IN" sz="1600" dirty="0"/>
              <a:t>     Advance Tax </a:t>
            </a:r>
          </a:p>
          <a:p>
            <a:pPr marL="0" indent="0">
              <a:buNone/>
            </a:pPr>
            <a:r>
              <a:rPr lang="en-IN" sz="1600" dirty="0"/>
              <a:t>    Computation of Total Income and Tax Liability</a:t>
            </a:r>
          </a:p>
          <a:p>
            <a:pPr marL="0" indent="0">
              <a:buNone/>
            </a:pPr>
            <a:r>
              <a:rPr lang="en-IN" sz="1600" dirty="0"/>
              <a:t>    Online Payment of TDS and Income Tax</a:t>
            </a:r>
          </a:p>
          <a:p>
            <a:pPr marL="0" indent="0">
              <a:buNone/>
            </a:pPr>
            <a:r>
              <a:rPr lang="en-IN" sz="1600" dirty="0"/>
              <a:t>    Types of Audit</a:t>
            </a:r>
          </a:p>
          <a:p>
            <a:pPr marL="0" indent="0">
              <a:buNone/>
            </a:pPr>
            <a:r>
              <a:rPr lang="en-IN" sz="1600" dirty="0"/>
              <a:t>    Tax Return Preparation for Individual</a:t>
            </a:r>
          </a:p>
          <a:p>
            <a:pPr marL="0" indent="0">
              <a:buNone/>
            </a:pPr>
            <a:r>
              <a:rPr lang="en-IN" sz="1600" dirty="0"/>
              <a:t>	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406135-89AD-7EE5-F662-610C7E3384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961088" y="2653258"/>
            <a:ext cx="3152932" cy="30846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77E381-3CF5-664A-0B6B-08F532423C75}"/>
              </a:ext>
            </a:extLst>
          </p:cNvPr>
          <p:cNvSpPr txBox="1"/>
          <p:nvPr/>
        </p:nvSpPr>
        <p:spPr>
          <a:xfrm>
            <a:off x="6096000" y="6627168"/>
            <a:ext cx="3837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www.quoteinspector.com/free-income-tax-photos-and-images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-nd/3.0/"/>
              </a:rPr>
              <a:t>CC BY-ND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1472830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BAAD4-F166-9F1F-E51E-AFCAD068C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Direct Tax (TDS Part in</a:t>
            </a:r>
            <a:br>
              <a:rPr lang="en-IN" dirty="0"/>
            </a:br>
            <a:r>
              <a:rPr lang="en-IN" dirty="0"/>
              <a:t> income tax)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E0F90-013A-18D0-37CE-FF5F5D5ED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Tax deducted at source under Sections</a:t>
            </a:r>
          </a:p>
          <a:p>
            <a:r>
              <a:rPr lang="en-IN" dirty="0"/>
              <a:t>Rate limit under TDS</a:t>
            </a:r>
          </a:p>
          <a:p>
            <a:r>
              <a:rPr lang="en-IN" dirty="0"/>
              <a:t>Due date of TDS payment</a:t>
            </a:r>
          </a:p>
          <a:p>
            <a:r>
              <a:rPr lang="en-IN" dirty="0"/>
              <a:t>Due date of Return</a:t>
            </a:r>
          </a:p>
          <a:p>
            <a:r>
              <a:rPr lang="en-IN" dirty="0"/>
              <a:t>TCS on Income</a:t>
            </a:r>
          </a:p>
          <a:p>
            <a:r>
              <a:rPr lang="en-IN" dirty="0"/>
              <a:t>Interest on TDS</a:t>
            </a:r>
          </a:p>
          <a:p>
            <a:r>
              <a:rPr lang="en-IN" dirty="0"/>
              <a:t>Let Fees on TDS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197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A6ACB-3E00-7D22-579D-2A769D7CA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400" dirty="0"/>
              <a:t>Chapter-4</a:t>
            </a:r>
            <a:br>
              <a:rPr lang="en-IN" sz="1400" dirty="0"/>
            </a:br>
            <a:br>
              <a:rPr lang="en-IN" sz="1400" dirty="0"/>
            </a:br>
            <a:r>
              <a:rPr lang="en-IN" sz="2400" b="1" dirty="0"/>
              <a:t>Banking &amp; Com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2BC22-41F1-0F4B-208C-790B5341C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Internet Banking</a:t>
            </a:r>
          </a:p>
          <a:p>
            <a:r>
              <a:rPr lang="en-IN" dirty="0"/>
              <a:t>Online Payments of Taxes</a:t>
            </a:r>
          </a:p>
          <a:p>
            <a:r>
              <a:rPr lang="en-IN" dirty="0"/>
              <a:t>Different Types of Bank accounts &amp; Bank Loans</a:t>
            </a:r>
          </a:p>
          <a:p>
            <a:r>
              <a:rPr lang="en-IN" dirty="0"/>
              <a:t>Understanding Modern Banking</a:t>
            </a:r>
          </a:p>
          <a:p>
            <a:r>
              <a:rPr lang="en-IN" dirty="0"/>
              <a:t>IMPS,NEFT, RTGS</a:t>
            </a:r>
          </a:p>
        </p:txBody>
      </p:sp>
    </p:spTree>
    <p:extLst>
      <p:ext uri="{BB962C8B-B14F-4D97-AF65-F5344CB8AC3E}">
        <p14:creationId xmlns:p14="http://schemas.microsoft.com/office/powerpoint/2010/main" val="1352250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0591-8B39-C6DD-47DC-FA3F3DF36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000" dirty="0"/>
              <a:t>Chapter-5</a:t>
            </a:r>
            <a:br>
              <a:rPr lang="en-IN" dirty="0"/>
            </a:br>
            <a:r>
              <a:rPr lang="en-IN" dirty="0"/>
              <a:t>Basic &amp; Advances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BF002-8E3D-639B-D0DC-65F70326A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Basic Computer Techniques</a:t>
            </a:r>
          </a:p>
          <a:p>
            <a:r>
              <a:rPr lang="en-IN" dirty="0"/>
              <a:t>MS Excel training For Accounting</a:t>
            </a:r>
          </a:p>
          <a:p>
            <a:r>
              <a:rPr lang="en-IN" dirty="0"/>
              <a:t>Data entry &amp; Formatting</a:t>
            </a:r>
          </a:p>
          <a:p>
            <a:r>
              <a:rPr lang="en-IN" dirty="0"/>
              <a:t>Formula &amp; Data Operations</a:t>
            </a:r>
          </a:p>
          <a:p>
            <a:r>
              <a:rPr lang="en-IN" dirty="0"/>
              <a:t>Pivot, Sort &amp; Filter, VLOOKUP</a:t>
            </a:r>
          </a:p>
        </p:txBody>
      </p:sp>
    </p:spTree>
    <p:extLst>
      <p:ext uri="{BB962C8B-B14F-4D97-AF65-F5344CB8AC3E}">
        <p14:creationId xmlns:p14="http://schemas.microsoft.com/office/powerpoint/2010/main" val="2345218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50D74-308A-DB79-349F-CD270DE50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200" dirty="0"/>
              <a:t>Chapter-6</a:t>
            </a:r>
            <a:br>
              <a:rPr lang="en-IN" dirty="0"/>
            </a:br>
            <a:r>
              <a:rPr lang="en-IN" dirty="0"/>
              <a:t>Soft skill &amp; Personality Development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5BFD9-A552-3FDA-BF67-1ECA6710F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Face to Face Discussions	</a:t>
            </a:r>
          </a:p>
          <a:p>
            <a:r>
              <a:rPr lang="en-IN" dirty="0"/>
              <a:t>Grooming and Professional Etiquettes</a:t>
            </a:r>
          </a:p>
          <a:p>
            <a:r>
              <a:rPr lang="en-IN" dirty="0"/>
              <a:t>Communication Skills</a:t>
            </a:r>
          </a:p>
          <a:p>
            <a:r>
              <a:rPr lang="en-IN" dirty="0"/>
              <a:t>Mock Interviews</a:t>
            </a:r>
          </a:p>
          <a:p>
            <a:r>
              <a:rPr lang="en-IN" dirty="0"/>
              <a:t>Resume Preparations</a:t>
            </a:r>
          </a:p>
        </p:txBody>
      </p:sp>
    </p:spTree>
    <p:extLst>
      <p:ext uri="{BB962C8B-B14F-4D97-AF65-F5344CB8AC3E}">
        <p14:creationId xmlns:p14="http://schemas.microsoft.com/office/powerpoint/2010/main" val="5803860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448</TotalTime>
  <Words>444</Words>
  <Application>Microsoft Office PowerPoint</Application>
  <PresentationFormat>Widescreen</PresentationFormat>
  <Paragraphs>92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Trebuchet MS</vt:lpstr>
      <vt:lpstr>Wingdings 3</vt:lpstr>
      <vt:lpstr>Facet</vt:lpstr>
      <vt:lpstr>Professional Accounting Achieve Your Goal With Us</vt:lpstr>
      <vt:lpstr>Chepter-1 Accounting Fundamentals TALLY PRIME</vt:lpstr>
      <vt:lpstr>Chapter-2 Indirect Tax (GST) TALLY PRIME</vt:lpstr>
      <vt:lpstr>Indirect Tax (GST) </vt:lpstr>
      <vt:lpstr>Chepter-3  Direct Tax (Income Tax – TDS) Tally PRIME   </vt:lpstr>
      <vt:lpstr>Direct Tax (TDS Part in  income tax)</vt:lpstr>
      <vt:lpstr>Chapter-4  Banking &amp; Com</vt:lpstr>
      <vt:lpstr>Chapter-5 Basic &amp; Advances Excel</vt:lpstr>
      <vt:lpstr>Chapter-6 Soft skill &amp; Personality Development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kinjal Ratnottar</dc:creator>
  <cp:lastModifiedBy>kinjal Ratnottar</cp:lastModifiedBy>
  <cp:revision>19</cp:revision>
  <dcterms:created xsi:type="dcterms:W3CDTF">2024-12-22T14:31:39Z</dcterms:created>
  <dcterms:modified xsi:type="dcterms:W3CDTF">2025-05-01T17:04:46Z</dcterms:modified>
</cp:coreProperties>
</file>